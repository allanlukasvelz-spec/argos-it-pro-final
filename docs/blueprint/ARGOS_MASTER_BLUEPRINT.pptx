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F7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argos-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11480"/>
            <a:ext cx="1167759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1874519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Calibri"/>
              </a:rPr>
              <a:t>ARGOS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560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C9E4DC"/>
                </a:solidFill>
                <a:latin typeface="Calibri"/>
              </a:rPr>
              <a:t>Master Product / Architecture Blueprint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2004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STAGE 1 — Architectural product contract for Relume + Framer
WIREFRAMES = STRUCTURAL   ·   FINAL UI = PENDING RELUME + FRAMER
Phase 3 not implemented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937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AB0C0"/>
                </a:solidFill>
                <a:latin typeface="Calibri"/>
              </a:rPr>
              <a:t>feature/argos-multitenant-platform  ·  HEAD ec27eb9  ·  checkpoint argos-pre-multitenant-2026-08-24
2026-08-24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611112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ARGOS  ·  Architectural blueprint  ·  WIREFRAMES = STRUCTURAL  ·  UI = PENDING RELUME+FRAMER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611112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 / 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Visión de producto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9875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9E4DC"/>
                </a:solidFill>
                <a:latin typeface="Calibri"/>
              </a:rPr>
              <a:t>La tecnología del cliente debe sentirse controlada, comprensible, vigilada y estable</a:t>
            </a:r>
          </a:p>
        </p:txBody>
      </p:sp>
      <p:pic>
        <p:nvPicPr>
          <p:cNvPr id="5" name="Picture 4" descr="logo-argos-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128016"/>
            <a:ext cx="851777" cy="5669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14300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0B1320"/>
                </a:solidFill>
                <a:latin typeface="Calibri"/>
              </a:rPr>
              <a:t>•  Una plataforma de protección continua — no tres productos, no un monitor de marketing.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B1320"/>
                </a:solidFill>
                <a:latin typeface="Calibri"/>
              </a:rPr>
              <a:t>•  Detecta con evidencia, previene con reglas honestas, actúa con A/B/C y rollback.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B1320"/>
                </a:solidFill>
                <a:latin typeface="Calibri"/>
              </a:rPr>
              <a:t>•  Nunca afirma HEALTHY / PROTECTED sin cobertura y observaciones recientes.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B1320"/>
                </a:solidFill>
                <a:latin typeface="Calibri"/>
              </a:rPr>
              <a:t>•  Quiet Authority: calma, precisión, competencia humana — no ciber-espectáculo.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B1320"/>
                </a:solidFill>
                <a:latin typeface="Calibri"/>
              </a:rPr>
              <a:t>•  Alta fidelidad visual se congela DESPUÉS de Relume + Framer.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611112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ARGOS  ·  Architectural blueprint  ·  WIREFRAMES = STRUCTURAL  ·  UI = PENDING RELUME+FRAMER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11112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2 / 30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Qué es ARGOS</a:t>
            </a:r>
          </a:p>
        </p:txBody>
      </p:sp>
      <p:pic>
        <p:nvPicPr>
          <p:cNvPr id="4" name="Picture 3" descr="logo-argos-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128016"/>
            <a:ext cx="851777" cy="56692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65760" y="1371600"/>
            <a:ext cx="21945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2194560" cy="6400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1444752"/>
            <a:ext cx="204825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Registra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2240280"/>
            <a:ext cx="1975104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0B1320"/>
                </a:solidFill>
                <a:latin typeface="Calibri"/>
              </a:rPr>
              <a:t>Organización, miembros, activos, TLS</a:t>
            </a:r>
          </a:p>
        </p:txBody>
      </p:sp>
      <p:sp>
        <p:nvSpPr>
          <p:cNvPr id="9" name="Rectangle 8"/>
          <p:cNvSpPr/>
          <p:nvPr/>
        </p:nvSpPr>
        <p:spPr>
          <a:xfrm>
            <a:off x="2697479" y="1371600"/>
            <a:ext cx="21945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697479" y="1371600"/>
            <a:ext cx="2194560" cy="6400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70632" y="1444752"/>
            <a:ext cx="204825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Observa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07208" y="2240280"/>
            <a:ext cx="1975104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0B1320"/>
                </a:solidFill>
                <a:latin typeface="Calibri"/>
              </a:rPr>
              <a:t>Monitors → checks → observations (Fase 3)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1371600"/>
            <a:ext cx="21945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0" y="1371600"/>
            <a:ext cx="2194560" cy="6400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02352" y="1444752"/>
            <a:ext cx="204825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Evalúa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38928" y="2240280"/>
            <a:ext cx="1975104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0B1320"/>
                </a:solidFill>
                <a:latin typeface="Calibri"/>
              </a:rPr>
              <a:t>Health + risk DETECTED / INFERRED / PREDICTED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60919" y="1371600"/>
            <a:ext cx="21945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60919" y="1371600"/>
            <a:ext cx="2194560" cy="6400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34071" y="1444752"/>
            <a:ext cx="204825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Actúa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70647" y="2240280"/>
            <a:ext cx="1975104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0B1320"/>
                </a:solidFill>
                <a:latin typeface="Calibri"/>
              </a:rPr>
              <a:t>Alertas, incidentes, A/B/C, parada segura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92640" y="1371600"/>
            <a:ext cx="21945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692640" y="1371600"/>
            <a:ext cx="2194560" cy="6400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65792" y="1444752"/>
            <a:ext cx="204825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Informa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02367" y="2240280"/>
            <a:ext cx="1975104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0B1320"/>
                </a:solidFill>
                <a:latin typeface="Calibri"/>
              </a:rPr>
              <a:t>Portal calmado · NOC denso · web que vende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6611112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ARGOS  ·  Architectural blueprint  ·  WIREFRAMES = STRUCTURAL  ·  UI = PENDING RELUME+FRAMER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611112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3 / 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Una plataforma / tres experiencias</a:t>
            </a:r>
          </a:p>
        </p:txBody>
      </p:sp>
      <p:pic>
        <p:nvPicPr>
          <p:cNvPr id="4" name="Picture 3" descr="logo-argos-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128016"/>
            <a:ext cx="851777" cy="56692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31520" y="1417320"/>
            <a:ext cx="33832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F3A5F"/>
                </a:solidFill>
                <a:latin typeface="Calibri"/>
              </a:rPr>
              <a:t>PUBLIC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0312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0B1320"/>
                </a:solidFill>
                <a:latin typeface="Calibri"/>
              </a:rPr>
              <a:t>/  ·  captación
No dashboard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59" y="1417320"/>
            <a:ext cx="33832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5544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F3A5F"/>
                </a:solidFill>
                <a:latin typeface="Calibri"/>
              </a:rPr>
              <a:t>CLIENT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10312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0B1320"/>
                </a:solidFill>
                <a:latin typeface="Calibri"/>
              </a:rPr>
              <a:t>/dashboard  ·  calma
¿Estoy protegido?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1417320"/>
            <a:ext cx="33832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60" y="15544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F3A5F"/>
                </a:solidFill>
                <a:latin typeface="Calibri"/>
              </a:rPr>
              <a:t>NOC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210312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0B1320"/>
                </a:solidFill>
                <a:latin typeface="Calibri"/>
              </a:rPr>
              <a:t>/noc  ·  operación
Evidencia + A/B/C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11480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F7D6D"/>
                </a:solidFill>
                <a:latin typeface="Calibri"/>
              </a:rPr>
              <a:t>ARGOS CORE  →  AUTH + TENANCY + OPERATIONS  →  POSTGRESQL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6611112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ARGOS  ·  Architectural blueprint  ·  WIREFRAMES = STRUCTURAL  ·  UI = PENDING RELUME+FRAMER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611112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4 / 30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Estado actual  ·  CURRENT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9875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9E4DC"/>
                </a:solidFill>
                <a:latin typeface="Calibri"/>
              </a:rPr>
              <a:t>Solo Fases 0–2. No dibujar Fase 3 como hecha.</a:t>
            </a:r>
          </a:p>
        </p:txBody>
      </p:sp>
      <p:pic>
        <p:nvPicPr>
          <p:cNvPr id="5" name="Picture 4" descr="logo-argos-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128016"/>
            <a:ext cx="851777" cy="5669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14300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0B1320"/>
                </a:solidFill>
                <a:latin typeface="Calibri"/>
              </a:rPr>
              <a:t>•  DONE: organizations, memberships, tenant-scoped portal APIs, assets, TLS observe, auth cookies.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0B1320"/>
                </a:solidFill>
                <a:latin typeface="Calibri"/>
              </a:rPr>
              <a:t>•  PARTIAL: /dashboard monolítico; org_role no enforced; /api/ai y /api/security por user_id.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0B1320"/>
                </a:solidFill>
                <a:latin typeface="Calibri"/>
              </a:rPr>
              <a:t>•  NOT STARTED: monitors, scheduler, alerts, incidents, /noc, runbooks, agents.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0B1320"/>
                </a:solidFill>
                <a:latin typeface="Calibri"/>
              </a:rPr>
              <a:t>•  Web pública implementada; IA Corporate frozen; Home producción legacy.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0B1320"/>
                </a:solidFill>
                <a:latin typeface="Calibri"/>
              </a:rPr>
              <a:t>•  Deuda: client_diagnostics fuera de schema.sql; migrate.sh aplica *_down.sql.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611112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ARGOS  ·  Architectural blueprint  ·  WIREFRAMES = STRUCTURAL  ·  UI = PENDING RELUME+FRAMER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11112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5 / 30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Estado objetivo  ·  TARGET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9875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9E4DC"/>
                </a:solidFill>
                <a:latin typeface="Calibri"/>
              </a:rPr>
              <a:t>Cada bloque lleva fase. No es el código de hoy.</a:t>
            </a:r>
          </a:p>
        </p:txBody>
      </p:sp>
      <p:pic>
        <p:nvPicPr>
          <p:cNvPr id="5" name="Picture 4" descr="logo-argos-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128016"/>
            <a:ext cx="851777" cy="5669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118872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B1320"/>
                </a:solidFill>
                <a:latin typeface="Calibri"/>
              </a:rPr>
              <a:t>DONE org / asset / TLS
PHASE 3   monitors → observations → health → alerts → incidents
PHASE 4   experiencia privada cliente (árbol /dashboard)
PHASE 5   NOC interno /noc
PHASE 6   runbooks + remediación A/B/C
PHASE 7–9 agents, notificaciones, inteligencia preventiva
PHASE 10–12  self-monitoring, piloto, production readiness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611112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ARGOS  ·  Architectural blueprint  ·  WIREFRAMES = STRUCTURAL  ·  UI = PENDING RELUME+FRAMER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11112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6 / 30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Web pública — contrato</a:t>
            </a:r>
          </a:p>
        </p:txBody>
      </p:sp>
      <p:pic>
        <p:nvPicPr>
          <p:cNvPr id="4" name="Picture 3" descr="logo-argos-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128016"/>
            <a:ext cx="851777" cy="5669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14300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0B1320"/>
                </a:solidFill>
                <a:latin typeface="Calibri"/>
              </a:rPr>
              <a:t>•  Objetivo: confianza y conversión. Prohibido convertirla en dashboard.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0B1320"/>
                </a:solidFill>
                <a:latin typeface="Calibri"/>
              </a:rPr>
              <a:t>•  CURRENT locked: /, /servicios (+6 slugs), /metodo (5 pasos), /sobre-argos-it, /contacto, legal, /auth.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0B1320"/>
                </a:solidFill>
                <a:latin typeface="Calibri"/>
              </a:rPr>
              <a:t>•  TARGET: superconjunto (preventiva, 24/7, casos). Relume añade; no borra.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0B1320"/>
                </a:solidFill>
                <a:latin typeface="Calibri"/>
              </a:rPr>
              <a:t>•  CTA primario: Contacto. Login visible, no dominante. Mascotas ASSISTANT_ONLY.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0B1320"/>
                </a:solidFill>
                <a:latin typeface="Calibri"/>
              </a:rPr>
              <a:t>•  Copy: no precios / SLAs / testimonios inventados.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11112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ARGOS  ·  Architectural blueprint  ·  WIREFRAMES = STRUCTURAL  ·  UI = PENDING RELUME+FRAMER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611112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7 / 30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Web pública — layout estructural</a:t>
            </a:r>
          </a:p>
        </p:txBody>
      </p:sp>
      <p:pic>
        <p:nvPicPr>
          <p:cNvPr id="4" name="Picture 3" descr="logo-argos-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128016"/>
            <a:ext cx="851777" cy="56692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65760" y="1097280"/>
            <a:ext cx="1143000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11430000" cy="6400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07008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ARGOS     Inicio   Servicios   Método   Sobre   Contacto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1207008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Calibri"/>
              </a:rPr>
              <a:t>Consulta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11680"/>
            <a:ext cx="10789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3A5F"/>
                </a:solidFill>
                <a:latin typeface="Calibri"/>
              </a:rPr>
              <a:t>HERO EDITORIAL
Promesa de protección continua  ·  no fake HUD  ·  CTA Contacto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383280"/>
            <a:ext cx="107899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B1320"/>
                </a:solidFill>
                <a:latin typeface="Calibri"/>
              </a:rPr>
              <a:t>Método (5 pasos)     Grid 6 servicios     Planes (sin cifras inventadas)
Confianza institucional     Footer legal
Páginas Relume extra: preventiva / 24/7 / casos de uso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6611112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ARGOS  ·  Architectural blueprint  ·  WIREFRAMES = STRUCTURAL  ·  UI = PENDING RELUME+FRAMER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611112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8 / 30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Portal cliente — contrato</a:t>
            </a:r>
          </a:p>
        </p:txBody>
      </p:sp>
      <p:pic>
        <p:nvPicPr>
          <p:cNvPr id="4" name="Picture 3" descr="logo-argos-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128016"/>
            <a:ext cx="851777" cy="5669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14300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0B1320"/>
                </a:solidFill>
                <a:latin typeface="Calibri"/>
              </a:rPr>
              <a:t>•  En 10 segundos: ¿protegido? ¿riesgo? ¿incidencias? ¿prevención? ¿atención? ¿cobertura?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0B1320"/>
                </a:solidFill>
                <a:latin typeface="Calibri"/>
              </a:rPr>
              <a:t>•  Tono: calm, premium, business — no jerga NOC.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0B1320"/>
                </a:solidFill>
                <a:latin typeface="Calibri"/>
              </a:rPr>
              <a:t>•  CURRENT: una sola /dashboard con datos reales de portal / assets / TLS.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0B1320"/>
                </a:solidFill>
                <a:latin typeface="Calibri"/>
              </a:rPr>
              <a:t>•  TARGET: árbol Resumen / Activos / Monitor / Seguridad / Alertas / Incidentes / Prevención.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0B1320"/>
                </a:solidFill>
                <a:latin typeface="Calibri"/>
              </a:rPr>
              <a:t>•  UNKNOWN ≠ HEALTHY. org_viewer solo lectura.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11112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ARGOS  ·  Architectural blueprint  ·  WIREFRAMES = STRUCTURAL  ·  UI = PENDING RELUME+FRAMER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611112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9 / 30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Portal cliente — layout estructural</a:t>
            </a:r>
          </a:p>
        </p:txBody>
      </p:sp>
      <p:pic>
        <p:nvPicPr>
          <p:cNvPr id="4" name="Picture 3" descr="logo-argos-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128016"/>
            <a:ext cx="851777" cy="56692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20040" y="1051560"/>
            <a:ext cx="11521440" cy="534924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51560"/>
            <a:ext cx="11521440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15568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ARGOS          ORG NAME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1115568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FFFFFF"/>
                </a:solidFill>
                <a:latin typeface="Calibri"/>
              </a:rPr>
              <a:t>PERFIL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554480"/>
            <a:ext cx="2194560" cy="4846320"/>
          </a:xfrm>
          <a:prstGeom prst="rect">
            <a:avLst/>
          </a:prstGeom>
          <a:solidFill>
            <a:srgbClr val="EEEEEA"/>
          </a:solidFill>
          <a:ln w="12700">
            <a:solidFill>
              <a:srgbClr val="D4D4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" y="169164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3A5F"/>
                </a:solidFill>
                <a:latin typeface="Calibri"/>
              </a:rPr>
              <a:t>Resumen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2221992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B1320"/>
                </a:solidFill>
                <a:latin typeface="Calibri"/>
              </a:rPr>
              <a:t>Activos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2752344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B1320"/>
                </a:solidFill>
                <a:latin typeface="Calibri"/>
              </a:rPr>
              <a:t>Monitor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" y="3282696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B1320"/>
                </a:solidFill>
                <a:latin typeface="Calibri"/>
              </a:rPr>
              <a:t>Alertas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" y="3813048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B1320"/>
                </a:solidFill>
                <a:latin typeface="Calibri"/>
              </a:rPr>
              <a:t>Incidentes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" y="434340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B1320"/>
                </a:solidFill>
                <a:latin typeface="Calibri"/>
              </a:rPr>
              <a:t>Prevención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" y="4873752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B1320"/>
                </a:solidFill>
                <a:latin typeface="Calibri"/>
              </a:rPr>
              <a:t>Soporte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" y="5404104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B1320"/>
                </a:solidFill>
                <a:latin typeface="Calibri"/>
              </a:rPr>
              <a:t>Cuenta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97480" y="1737360"/>
            <a:ext cx="8869680" cy="1417320"/>
          </a:xfrm>
          <a:prstGeom prst="rect">
            <a:avLst/>
          </a:prstGeom>
          <a:solidFill>
            <a:srgbClr val="E8F0EE"/>
          </a:solidFill>
          <a:ln w="12700">
            <a:solidFill>
              <a:srgbClr val="D4D4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80360" y="1874519"/>
            <a:ext cx="85039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Calibri"/>
              </a:rPr>
              <a:t>PROTECTION STATUS    UNKNOWN / WARNING / CRITICAL / PROTECTED
Score MOCK     Availability MOCK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6611112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ARGOS  ·  Architectural blueprint  ·  WIREFRAMES = STRUCTURAL  ·  UI = PENDING RELUME+FRAMER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611112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10 / 30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Dashboard cliente — wireframe Resumen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9875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9E4DC"/>
                </a:solidFill>
                <a:latin typeface="Calibri"/>
              </a:rPr>
              <a:t>Estructural · números MOCK · UI final pendiente</a:t>
            </a:r>
          </a:p>
        </p:txBody>
      </p:sp>
      <p:pic>
        <p:nvPicPr>
          <p:cNvPr id="5" name="Picture 4" descr="logo-argos-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128016"/>
            <a:ext cx="851777" cy="56692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20040" y="1051560"/>
            <a:ext cx="11521440" cy="534924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051560"/>
            <a:ext cx="11521440" cy="4572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ARGOS  ·  Cliente  ·  Perfil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508760"/>
            <a:ext cx="2103120" cy="4892040"/>
          </a:xfrm>
          <a:prstGeom prst="rect">
            <a:avLst/>
          </a:prstGeom>
          <a:solidFill>
            <a:srgbClr val="EEE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60320" y="1645920"/>
            <a:ext cx="9052560" cy="1463040"/>
          </a:xfrm>
          <a:prstGeom prst="rect">
            <a:avLst/>
          </a:prstGeom>
          <a:solidFill>
            <a:srgbClr val="E8F0EE"/>
          </a:solidFill>
          <a:ln w="12700">
            <a:solidFill>
              <a:srgbClr val="2F7D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1783080"/>
            <a:ext cx="8686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B1320"/>
                </a:solidFill>
                <a:latin typeface="Calibri"/>
              </a:rPr>
              <a:t>●  PROTECTED   (solo si hay evidencia)
Protection Score DEMO 96     Availability DEMO 99.99%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0" y="3246120"/>
            <a:ext cx="90525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0" y="3383280"/>
            <a:ext cx="8686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B1320"/>
                </a:solidFill>
                <a:latin typeface="Calibri"/>
              </a:rPr>
              <a:t>HEALTH OVERVIEW
Web · TLS · DNS · Backups · Server     UNKNOWN si faltan datos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0" y="4937760"/>
            <a:ext cx="90525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0" y="5074920"/>
            <a:ext cx="8686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B1320"/>
                </a:solidFill>
                <a:latin typeface="Calibri"/>
              </a:rPr>
              <a:t>PREVENTIVE ACTIONS    ✓ TLS risk    ✓ Backup verify    ! DNS change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6611112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ARGOS  ·  Architectural blueprint  ·  WIREFRAMES = STRUCTURAL  ·  UI = PENDING RELUME+FRAMER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611112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11 / 30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NOC interno — contrato</a:t>
            </a:r>
          </a:p>
        </p:txBody>
      </p:sp>
      <p:pic>
        <p:nvPicPr>
          <p:cNvPr id="4" name="Picture 3" descr="logo-argos-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128016"/>
            <a:ext cx="851777" cy="5669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14300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0B1320"/>
                </a:solidFill>
                <a:latin typeface="Calibri"/>
              </a:rPr>
              <a:t>•  Ruta /noc — NOT_IMPLEMENTED hoy. Staff ARGOS only.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0B1320"/>
                </a:solidFill>
                <a:latin typeface="Calibri"/>
              </a:rPr>
              <a:t>•  Denso, rápido, evidence-driven, severidad y ownership claros.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0B1320"/>
                </a:solidFill>
                <a:latin typeface="Calibri"/>
              </a:rPr>
              <a:t>•  Selector de cliente: una org a la vez. ORG A ─X─&gt; ORG B.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0B1320"/>
                </a:solidFill>
                <a:latin typeface="Calibri"/>
              </a:rPr>
              <a:t>•  Panel A/B/C + ApprovalGate L3 + Safe Stop obligatorios en incidente.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0B1320"/>
                </a:solidFill>
                <a:latin typeface="Calibri"/>
              </a:rPr>
              <a:t>•  Móvil: solo cola de severidad, no Command Center completo.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11112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ARGOS  ·  Architectural blueprint  ·  WIREFRAMES = STRUCTURAL  ·  UI = PENDING RELUME+FRAMER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611112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12 / 30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NOC — layout estructural</a:t>
            </a:r>
          </a:p>
        </p:txBody>
      </p:sp>
      <p:pic>
        <p:nvPicPr>
          <p:cNvPr id="4" name="Picture 3" descr="logo-argos-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128016"/>
            <a:ext cx="851777" cy="56692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20040" y="1051560"/>
            <a:ext cx="11521440" cy="534924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51560"/>
            <a:ext cx="11521440" cy="457200"/>
          </a:xfrm>
          <a:prstGeom prst="rect">
            <a:avLst/>
          </a:prstGeom>
          <a:solidFill>
            <a:srgbClr val="0B1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ARGOS NOC          GLOBAL PLATFORM HEALTH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508760"/>
            <a:ext cx="2194560" cy="4892040"/>
          </a:xfrm>
          <a:prstGeom prst="rect">
            <a:avLst/>
          </a:prstGeom>
          <a:solidFill>
            <a:srgbClr val="141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691640"/>
            <a:ext cx="1920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Command
Customers
Assets
Monitoring
Alerts
Incidents
Predicted
Runbooks
Audit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0" y="1645920"/>
            <a:ext cx="8961120" cy="1097280"/>
          </a:xfrm>
          <a:prstGeom prst="rect">
            <a:avLst/>
          </a:prstGeom>
          <a:solidFill>
            <a:srgbClr val="EEEEEA"/>
          </a:solidFill>
          <a:ln w="12700">
            <a:solidFill>
              <a:srgbClr val="D4D4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88920" y="1783080"/>
            <a:ext cx="8686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B1320"/>
                </a:solidFill>
                <a:latin typeface="Calibri"/>
              </a:rPr>
              <a:t>KPIs MOCK  ·  Customers  ·  Assets  ·  Alerts  ·  Incidents  ·  Risks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611112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ARGOS  ·  Architectural blueprint  ·  WIREFRAMES = STRUCTURAL  ·  UI = PENDING RELUME+FRAMER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611112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13 / 30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NOC Command Center — wireframe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9875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9E4DC"/>
                </a:solidFill>
                <a:latin typeface="Calibri"/>
              </a:rPr>
              <a:t>MOCK data · estructural</a:t>
            </a:r>
          </a:p>
        </p:txBody>
      </p:sp>
      <p:pic>
        <p:nvPicPr>
          <p:cNvPr id="5" name="Picture 4" descr="logo-argos-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128016"/>
            <a:ext cx="851777" cy="56692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74320" y="1051560"/>
            <a:ext cx="11612880" cy="534924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3A5F"/>
                </a:solidFill>
                <a:latin typeface="Calibri"/>
              </a:rPr>
              <a:t>ACTIVE PRIORITIES     Customer MOCK · Signal · Severity · 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031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3A5F"/>
                </a:solidFill>
                <a:latin typeface="Calibri"/>
              </a:rPr>
              <a:t>PREDICTED INCIDENTS     Asset · Risk · ETA · Plan     (no % inventado)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17520"/>
            <a:ext cx="111556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B1320"/>
                </a:solidFill>
                <a:latin typeface="Calibri"/>
              </a:rPr>
              <a:t>RUNBOOK / A-B-C PANEL
Why this action  ·  Evidence  ·  Hypothesis  ·  Confidence HIGH | MEDIUM | LOW | UNKNOWN
Expected result  ·  Failure signal  ·  Rollback  ·  Safe stop  ·  L3 Approval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611112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ARGOS  ·  Architectural blueprint  ·  WIREFRAMES = STRUCTURAL  ·  UI = PENDING RELUME+FRAMER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611112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14 / 30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Modelo multi-tenant</a:t>
            </a:r>
          </a:p>
        </p:txBody>
      </p:sp>
      <p:pic>
        <p:nvPicPr>
          <p:cNvPr id="4" name="Picture 3" descr="logo-argos-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128016"/>
            <a:ext cx="851777" cy="5669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123444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B1320"/>
                </a:solidFill>
                <a:latin typeface="Calibri"/>
              </a:rPr>
              <a:t>ARGOS
  ├── Organization A  (members, assets, TLS, monitors*, alerts*, incidents*)
  ├── Organization B
  └── Organization N
* = PHASE_3+
JWT → User → Membership → Tenant Context → organization_id → Scoped Query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11112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ARGOS  ·  Architectural blueprint  ·  WIREFRAMES = STRUCTURAL  ·  UI = PENDING RELUME+FRAMER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611112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15 / 30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Aislamiento de seguridad</a:t>
            </a:r>
          </a:p>
        </p:txBody>
      </p:sp>
      <p:pic>
        <p:nvPicPr>
          <p:cNvPr id="4" name="Picture 3" descr="logo-argos-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128016"/>
            <a:ext cx="851777" cy="56692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097280" y="1828800"/>
            <a:ext cx="38404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46888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F3A5F"/>
                </a:solidFill>
                <a:latin typeface="Calibri"/>
              </a:rPr>
              <a:t>ORG A</a:t>
            </a:r>
          </a:p>
        </p:txBody>
      </p:sp>
      <p:sp>
        <p:nvSpPr>
          <p:cNvPr id="7" name="Rectangle 6"/>
          <p:cNvSpPr/>
          <p:nvPr/>
        </p:nvSpPr>
        <p:spPr>
          <a:xfrm>
            <a:off x="7223760" y="1828800"/>
            <a:ext cx="38404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246888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F3A5F"/>
                </a:solidFill>
                <a:latin typeface="Calibri"/>
              </a:rPr>
              <a:t>ORG 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237744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A33B3B"/>
                </a:solidFill>
                <a:latin typeface="Calibri"/>
              </a:rPr>
              <a:t>─ X 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297680"/>
            <a:ext cx="11247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B1320"/>
                </a:solidFill>
                <a:latin typeface="Calibri"/>
              </a:rPr>
              <a:t>Header X-Argos-Organization-Id solo si hay membership.
IDOR → 404. Admin global no bypass /api/client. Framer no unifica colas cross-tenant sin org chip.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6611112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ARGOS  ·  Architectural blueprint  ·  WIREFRAMES = STRUCTURAL  ·  UI = PENDING RELUME+FRAMER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611112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16 / 30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Registro de activos  ·  DONE Phase 2</a:t>
            </a:r>
          </a:p>
        </p:txBody>
      </p:sp>
      <p:pic>
        <p:nvPicPr>
          <p:cNvPr id="4" name="Picture 3" descr="logo-argos-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128016"/>
            <a:ext cx="851777" cy="5669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14300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0B1320"/>
                </a:solidFill>
                <a:latin typeface="Calibri"/>
              </a:rPr>
              <a:t>•  Tipos: DOMAIN, HOSTNAME, WEBSITE, SERVER, API, DATABASE, SERVICE, TLS_CERTIFICATE.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0B1320"/>
                </a:solidFill>
                <a:latin typeface="Calibri"/>
              </a:rPr>
              <a:t>•  TLS observe on discover: VALID / EXPIRING / EXPIRED / HOSTNAME_MISMATCH / CHAIN_ERROR / UNKNOWN.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0B1320"/>
                </a:solidFill>
                <a:latin typeface="Calibri"/>
              </a:rPr>
              <a:t>•  Sin clave privada. SSRF guards en hostnameSecurity.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0B1320"/>
                </a:solidFill>
                <a:latin typeface="Calibri"/>
              </a:rPr>
              <a:t>•  Nuevo activo TARGET: validate → ownership → discover → classify → monitors → baseline → coverage → active.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11112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ARGOS  ·  Architectural blueprint  ·  WIREFRAMES = STRUCTURAL  ·  UI = PENDING RELUME+FRAMER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611112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17 / 30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Motor de monitorización  ·  PHASE_3 diseño</a:t>
            </a:r>
          </a:p>
        </p:txBody>
      </p:sp>
      <p:pic>
        <p:nvPicPr>
          <p:cNvPr id="4" name="Picture 3" descr="logo-argos-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128016"/>
            <a:ext cx="851777" cy="5669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280160"/>
            <a:ext cx="11247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B1320"/>
                </a:solidFill>
                <a:latin typeface="Calibri"/>
              </a:rPr>
              <a:t>ASSET → MONITOR → SCHEDULER → CHECK → OBSERVATION
→ HEALTH ENGINE → RISK ENGINE → ALERT → INCIDENT
→ ACTION PLAN → VERIFY → RESOLVE
El check no escribe HEALTHY. Observation = hecho. Health = derivada.
Scheduler down ⇒ plataforma DEGRADED; clientes no se pintan verdes.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11112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ARGOS  ·  Architectural blueprint  ·  WIREFRAMES = STRUCTURAL  ·  UI = PENDING RELUME+FRAMER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611112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18 / 30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Modelo de salud</a:t>
            </a:r>
          </a:p>
        </p:txBody>
      </p:sp>
      <p:pic>
        <p:nvPicPr>
          <p:cNvPr id="4" name="Picture 3" descr="logo-argos-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128016"/>
            <a:ext cx="851777" cy="56692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65760" y="1371600"/>
            <a:ext cx="1828800" cy="1005840"/>
          </a:xfrm>
          <a:prstGeom prst="rect">
            <a:avLst/>
          </a:prstGeom>
          <a:solidFill>
            <a:srgbClr val="5C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60020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UNKNOWN</a:t>
            </a:r>
          </a:p>
        </p:txBody>
      </p:sp>
      <p:sp>
        <p:nvSpPr>
          <p:cNvPr id="7" name="Rectangle 6"/>
          <p:cNvSpPr/>
          <p:nvPr/>
        </p:nvSpPr>
        <p:spPr>
          <a:xfrm>
            <a:off x="2331720" y="1371600"/>
            <a:ext cx="1828800" cy="1005840"/>
          </a:xfrm>
          <a:prstGeom prst="rect">
            <a:avLst/>
          </a:prstGeom>
          <a:solidFill>
            <a:srgbClr val="4B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31720" y="160020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OBSERVE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371600"/>
            <a:ext cx="1828800" cy="100584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160020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WARNING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371600"/>
            <a:ext cx="1828800" cy="1005840"/>
          </a:xfrm>
          <a:prstGeom prst="rect">
            <a:avLst/>
          </a:prstGeom>
          <a:solidFill>
            <a:srgbClr val="C06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160020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371600"/>
            <a:ext cx="1828800" cy="1005840"/>
          </a:xfrm>
          <a:prstGeom prst="rect">
            <a:avLst/>
          </a:prstGeom>
          <a:solidFill>
            <a:srgbClr val="A3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60020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CRITICAL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195560" y="1371600"/>
            <a:ext cx="1828800" cy="1005840"/>
          </a:xfrm>
          <a:prstGeom prst="rect">
            <a:avLst/>
          </a:prstGeom>
          <a:solidFill>
            <a:srgbClr val="2F7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195560" y="160020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PROTECTED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788920"/>
            <a:ext cx="112471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B1320"/>
                </a:solidFill>
                <a:latin typeface="Calibri"/>
              </a:rPr>
              <a:t>UNKNOWN != HEALTHY
PROTECTED exige cobertura mínima + observaciones recientes.
Incident states: OPEN → INVESTIGATING → MITIGATING → MITIGATED → RESOLVED → CLOSED
MITIGATED ≠ RESOLVED.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611112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ARGOS  ·  Architectural blueprint  ·  WIREFRAMES = STRUCTURAL  ·  UI = PENDING RELUME+FRAMER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611112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19 / 30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Alertas + incidentes  ·  PHASE_3</a:t>
            </a:r>
          </a:p>
        </p:txBody>
      </p:sp>
      <p:pic>
        <p:nvPicPr>
          <p:cNvPr id="4" name="Picture 3" descr="logo-argos-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128016"/>
            <a:ext cx="851777" cy="5669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14300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0B1320"/>
                </a:solidFill>
                <a:latin typeface="Calibri"/>
              </a:rPr>
              <a:t>•  Alert = señal deduplicada por fingerprint. Incident = caso operativo con ownership.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0B1320"/>
                </a:solidFill>
                <a:latin typeface="Calibri"/>
              </a:rPr>
              <a:t>•  CRITICAL confirmado abre incidente. WARNING puede quedarse en alerta.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0B1320"/>
                </a:solidFill>
                <a:latin typeface="Calibri"/>
              </a:rPr>
              <a:t>•  Cliente ve impacto traducido; NOC ve evidencia y hipótesis.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0B1320"/>
                </a:solidFill>
                <a:latin typeface="Calibri"/>
              </a:rPr>
              <a:t>•  security_logs actuales ≠ incidentes de activos.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11112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ARGOS  ·  Architectural blueprint  ·  WIREFRAMES = STRUCTURAL  ·  UI = PENDING RELUME+FRAMER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611112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20 / 30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Motor preventivo</a:t>
            </a:r>
          </a:p>
        </p:txBody>
      </p:sp>
      <p:pic>
        <p:nvPicPr>
          <p:cNvPr id="4" name="Picture 3" descr="logo-argos-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128016"/>
            <a:ext cx="851777" cy="5669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280160"/>
            <a:ext cx="11247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B1320"/>
                </a:solidFill>
                <a:latin typeface="Calibri"/>
              </a:rPr>
              <a:t>HISTORICAL + CURRENT SIGNALS + RULES + THRESHOLDS + CONTEXT + TREND
→ RISK EVALUATION → POTENTIAL FAILURE → PREVENTIVE ACTION
DETECTED  (cert &lt; 14d)  — no es AI
INFERRED  (HTTP down + TLS ok → origen)  — no es AI
PREDICTED — solo con metodología (Fase 9). Sin % inventado.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11112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ARGOS  ·  Architectural blueprint  ·  WIREFRAMES = STRUCTURAL  ·  UI = PENDING RELUME+FRAMER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611112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21 / 30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Motor Action A / B / 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9875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9E4DC"/>
                </a:solidFill>
                <a:latin typeface="Calibri"/>
              </a:rPr>
              <a:t>Principio central</a:t>
            </a:r>
          </a:p>
        </p:txBody>
      </p:sp>
      <p:pic>
        <p:nvPicPr>
          <p:cNvPr id="5" name="Picture 4" descr="logo-argos-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128016"/>
            <a:ext cx="851777" cy="5669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1480" y="1188720"/>
            <a:ext cx="113385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B1320"/>
                </a:solidFill>
                <a:latin typeface="Calibri"/>
              </a:rPr>
              <a:t>SIGNAL → EVIDENCE → HYPOTHESIS → ACTION A
   PASS → VERIFY → RESOLVE
   FAIL → FAILURE EVIDENCE → UPDATE HYPOTHESIS → ACTION B
      FAIL → ACTION C → FAIL → SAFE STOP / ROLLBACK / ESCALATE
A falló no se improvisa: se convierte en evidencia y reduce hipótesis.
DB CONN_REFUSED: A ≠ rotar password; B = listener / servicio / red.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611112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ARGOS  ·  Architectural blueprint  ·  WIREFRAMES = STRUCTURAL  ·  UI = PENDING RELUME+FRAMER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11112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22 / 30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Seguridad de automatización</a:t>
            </a:r>
          </a:p>
        </p:txBody>
      </p:sp>
      <p:pic>
        <p:nvPicPr>
          <p:cNvPr id="4" name="Picture 3" descr="logo-argos-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128016"/>
            <a:ext cx="851777" cy="56692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1280160"/>
            <a:ext cx="112471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81328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3A5F"/>
                </a:solidFill>
                <a:latin typeface="Calibri"/>
              </a:rPr>
              <a:t>L0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1481328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1320"/>
                </a:solidFill>
                <a:latin typeface="Calibri"/>
              </a:rPr>
              <a:t>READ 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1481328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C6B7A"/>
                </a:solidFill>
                <a:latin typeface="Calibri"/>
              </a:rPr>
              <a:t>Re-fetch TLS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240280"/>
            <a:ext cx="112471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441448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3A5F"/>
                </a:solidFill>
                <a:latin typeface="Calibri"/>
              </a:rPr>
              <a:t>L1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2441448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1320"/>
                </a:solidFill>
                <a:latin typeface="Calibri"/>
              </a:rPr>
              <a:t>SAFE AUTO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2441448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C6B7A"/>
                </a:solidFill>
                <a:latin typeface="Calibri"/>
              </a:rPr>
              <a:t>Re-check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200400"/>
            <a:ext cx="112471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401568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3A5F"/>
                </a:solidFill>
                <a:latin typeface="Calibri"/>
              </a:rPr>
              <a:t>L2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3401568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1320"/>
                </a:solidFill>
                <a:latin typeface="Calibri"/>
              </a:rPr>
              <a:t>REVERSIBLE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3401568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C6B7A"/>
                </a:solidFill>
                <a:latin typeface="Calibri"/>
              </a:rPr>
              <a:t>Renew + keep old cert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160520"/>
            <a:ext cx="112471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361688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3A5F"/>
                </a:solidFill>
                <a:latin typeface="Calibri"/>
              </a:rPr>
              <a:t>L3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20" y="4361688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1320"/>
                </a:solidFill>
                <a:latin typeface="Calibri"/>
              </a:rPr>
              <a:t>HUMAN APPROVAL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4361688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C6B7A"/>
                </a:solidFill>
                <a:latin typeface="Calibri"/>
              </a:rPr>
              <a:t>Restart / DNS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120640"/>
            <a:ext cx="112471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321807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3A5F"/>
                </a:solidFill>
                <a:latin typeface="Calibri"/>
              </a:rPr>
              <a:t>L4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20" y="5321807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1320"/>
                </a:solidFill>
                <a:latin typeface="Calibri"/>
              </a:rPr>
              <a:t>NEVER AUTO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0" y="5321807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C6B7A"/>
                </a:solidFill>
                <a:latin typeface="Calibri"/>
              </a:rPr>
              <a:t>DROP DATABASE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6611112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ARGOS  ·  Architectural blueprint  ·  WIREFRAMES = STRUCTURAL  ·  UI = PENDING RELUME+FRAMER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611112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23 / 30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Arquitectura de datos</a:t>
            </a:r>
          </a:p>
        </p:txBody>
      </p:sp>
      <p:pic>
        <p:nvPicPr>
          <p:cNvPr id="4" name="Picture 3" descr="logo-argos-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128016"/>
            <a:ext cx="851777" cy="5669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18872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B1320"/>
                </a:solidFill>
                <a:latin typeface="Calibri"/>
              </a:rPr>
              <a:t>EXISTS: users, organizations, members, assets, tls_certificates,
portal tables, logs, refresh_sessions
EXISTS_VIA_ENSURE: client_diagnostics (deuda schema.sql)
PHASE_3: monitors, observations, alerts, incidents, incident_events
PHASE_6: runbooks, remediation_actions, preventive_actions
PHASE_7: agents, heartbeats    PHASE_8: notifications, reports, audit_events
NO DDL en esta ejecución.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11112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ARGOS  ·  Architectural blueprint  ·  WIREFRAMES = STRUCTURAL  ·  UI = PENDING RELUME+FRAMER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611112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24 / 30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Arquitectura técnica</a:t>
            </a:r>
          </a:p>
        </p:txBody>
      </p:sp>
      <p:pic>
        <p:nvPicPr>
          <p:cNvPr id="4" name="Picture 3" descr="logo-argos-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128016"/>
            <a:ext cx="851777" cy="5669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18872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B1320"/>
                </a:solidFill>
                <a:latin typeface="Calibri"/>
              </a:rPr>
              <a:t>CURRENT: Next.js :3000  →  Express :4000 (cookies)  →  PostgreSQL 16
/api/client/* tenant-scoped    /api/ai y /api/security AÚN user_id
TARGET: mismos procesos + scheduler + health / alert / incident engines
+ /api/noc staff  + ApprovalGate  + self-health
Reutilizar hostnameSecurity, tlsStatus, isolation tests.
OpenAPI FUTURE. Production infra: no tocar ahora.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11112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ARGOS  ·  Architectural blueprint  ·  WIREFRAMES = STRUCTURAL  ·  UI = PENDING RELUME+FRAMER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611112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25 / 30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Onboarding de cliente</a:t>
            </a:r>
          </a:p>
        </p:txBody>
      </p:sp>
      <p:pic>
        <p:nvPicPr>
          <p:cNvPr id="4" name="Picture 3" descr="logo-argos-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128016"/>
            <a:ext cx="851777" cy="5669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1371600"/>
            <a:ext cx="113385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B1320"/>
                </a:solidFill>
                <a:latin typeface="Calibri"/>
              </a:rPr>
              <a:t>NEW CUSTOMER → ORGANIZATION → MEMBERS → PRIMARY DOMAIN
→ DISCOVERY → ASSET CONFIRMATION → OWNERSHIP VERIFICATION
→ PROTECTION PROFILE → MONITORS → BASELINE → COVERAGE
→ CLIENT DASHBOARD → ACTIVE MONITORING
No declarar PROTECTED hasta cobertura mínima.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11112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ARGOS  ·  Architectural blueprint  ·  WIREFRAMES = STRUCTURAL  ·  UI = PENDING RELUME+FRAMER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611112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26 / 30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User journeys</a:t>
            </a:r>
          </a:p>
        </p:txBody>
      </p:sp>
      <p:pic>
        <p:nvPicPr>
          <p:cNvPr id="4" name="Picture 3" descr="logo-argos-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128016"/>
            <a:ext cx="851777" cy="5669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14300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0B1320"/>
                </a:solidFill>
                <a:latin typeface="Calibri"/>
              </a:rPr>
              <a:t>•  Visitante → lead → cliente (web pública).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0B1320"/>
                </a:solidFill>
                <a:latin typeface="Calibri"/>
              </a:rPr>
              <a:t>•  Cliente → login → dashboard → alerta.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0B1320"/>
                </a:solidFill>
                <a:latin typeface="Calibri"/>
              </a:rPr>
              <a:t>•  Cliente observa incidente; NOC actúa A/B/C.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0B1320"/>
                </a:solidFill>
                <a:latin typeface="Calibri"/>
              </a:rPr>
              <a:t>•  Activo nuevo → discover → baseline → UNKNOWN hasta cobertura.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0B1320"/>
                </a:solidFill>
                <a:latin typeface="Calibri"/>
              </a:rPr>
              <a:t>•  TLS warning → prevención → renovación (L2/L3).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0B1320"/>
                </a:solidFill>
                <a:latin typeface="Calibri"/>
              </a:rPr>
              <a:t>•  DB refused → diagnóstico listener → no password-first.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11112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ARGOS  ·  Architectural blueprint  ·  WIREFRAMES = STRUCTURAL  ·  UI = PENDING RELUME+FRAMER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611112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27 / 30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Roadmap de desarrollo</a:t>
            </a:r>
          </a:p>
        </p:txBody>
      </p:sp>
      <p:pic>
        <p:nvPicPr>
          <p:cNvPr id="4" name="Picture 3" descr="logo-argos-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128016"/>
            <a:ext cx="851777" cy="5669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18872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B1320"/>
                </a:solidFill>
                <a:latin typeface="Calibri"/>
              </a:rPr>
              <a:t>0 Org  DONE     1 Tenant  DONE     2 Assets+TLS  DONE
3 Monitoring+Alerts+Incidents   NOT AUTHORIZED
4 Client experience    5 NOC    6 Runbooks/A-B-C
7 Agents    8 Notify/Reports    9 Preventive intel
10 Harden + self-monitor    11 Pilot    12 Production
MVP: org→asset→monitor→observation→health→alert→incident
     → client visibility → NOC visibility
DoD: isolation + UNKNOWN states + tests + rollback. Compile ≠ DONE.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11112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ARGOS  ·  Architectural blueprint  ·  WIREFRAMES = STRUCTURAL  ·  UI = PENDING RELUME+FRAMER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611112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28 / 30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Tests, riesgos, rollback</a:t>
            </a:r>
          </a:p>
        </p:txBody>
      </p:sp>
      <p:pic>
        <p:nvPicPr>
          <p:cNvPr id="4" name="Picture 3" descr="logo-argos-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128016"/>
            <a:ext cx="851777" cy="5669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14300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0B1320"/>
                </a:solidFill>
                <a:latin typeface="Calibri"/>
              </a:rPr>
              <a:t>•  Críticos: IDOR, SSRF, auth bypass, tenant leak, false HEALTHY, alert storm, L3 sin approval.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0B1320"/>
                </a:solidFill>
                <a:latin typeface="Calibri"/>
              </a:rPr>
              <a:t>•  Riesgo alto actual: org_role no enforced; AI/security unscoped; migrate.sh + _down.sql.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0B1320"/>
                </a:solidFill>
                <a:latin typeface="Calibri"/>
              </a:rPr>
              <a:t>•  Rollback de fase: feature flag off; no aplicar stash; backups antes de migrar (P12).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0B1320"/>
                </a:solidFill>
                <a:latin typeface="Calibri"/>
              </a:rPr>
              <a:t>•  Si A/B/C se agotan o falta rollback → SAFE STOP.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11112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ARGOS  ·  Architectural blueprint  ·  WIREFRAMES = STRUCTURAL  ·  UI = PENDING RELUME+FRAMER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611112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29 / 30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Producto final / siguiente fase</a:t>
            </a:r>
          </a:p>
        </p:txBody>
      </p:sp>
      <p:pic>
        <p:nvPicPr>
          <p:cNvPr id="4" name="Picture 3" descr="logo-argos-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128016"/>
            <a:ext cx="851777" cy="5669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18872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B1320"/>
                </a:solidFill>
                <a:latin typeface="Calibri"/>
              </a:rPr>
              <a:t>ARGOS al final: tres experiencias honestas sobre un núcleo tenant-safe
que observa, evalúa, alerta, actúa con A/B/C y se detiene cuando debe.
AHORA:
1. No implementar Fase 3.
2. Relume con docs/blueprint/handoff/ARGOS_RELUME_HANDOFF.md
3. Framer DRAFT tras Relume aprobado.
4. Autorización humana de Fase 3.
MAIN_CHANGED=NO   STASH_CHANGED=NO   PUSH=NO   PRODUCTION=NO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11112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ARGOS  ·  Architectural blueprint  ·  WIREFRAMES = STRUCTURAL  ·  UI = PENDING RELUME+FRAMER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611112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30 / 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